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Inter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xmlns="" Id="rId19" Type="http://schemas.openxmlformats.org/officeDocument/2006/relationships/font" Target="fonts/rId1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1734"/>
          <a:stretch/>
        </p:blipFill>
        <p:spPr>
          <a:xfrm>
            <a:off x="0" y="14288"/>
            <a:ext cx="9144000" cy="512921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9175" t="0" b="12500"/>
          <a:stretch/>
        </p:blipFill>
        <p:spPr>
          <a:xfrm>
            <a:off x="6926753" y="-342909"/>
            <a:ext cx="2217247" cy="24003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25000" t="0" b="37505"/>
          <a:stretch/>
        </p:blipFill>
        <p:spPr>
          <a:xfrm>
            <a:off x="-685817" y="3429086"/>
            <a:ext cx="2057451" cy="171441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7199" y="445781"/>
            <a:ext cx="3909158" cy="4217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752600" y="652463"/>
            <a:ext cx="1165889" cy="233178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819275" y="714375"/>
            <a:ext cx="1165889" cy="150880"/>
          </a:xfrm>
          <a:prstGeom prst="rect">
            <a:avLst/>
          </a:prstGeom>
          <a:noFill/>
          <a:ln/>
        </p:spPr>
      </p:sp>
      <p:sp>
        <p:nvSpPr>
          <p:cNvPr id="8" name="Text 1"/>
          <p:cNvSpPr/>
          <p:nvPr/>
        </p:nvSpPr>
        <p:spPr>
          <a:xfrm>
            <a:off x="1819275" y="714375"/>
            <a:ext cx="1165889" cy="15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КУРСОВОЙ ПРОЕКТ</a:t>
            </a:r>
            <a:endParaRPr lang="en-US" sz="713" dirty="0"/>
          </a:p>
        </p:txBody>
      </p:sp>
      <p:sp>
        <p:nvSpPr>
          <p:cNvPr id="9" name="Shape 2"/>
          <p:cNvSpPr/>
          <p:nvPr/>
        </p:nvSpPr>
        <p:spPr>
          <a:xfrm>
            <a:off x="617278" y="1089702"/>
            <a:ext cx="3429000" cy="590550"/>
          </a:xfrm>
          <a:prstGeom prst="rect">
            <a:avLst/>
          </a:prstGeom>
          <a:noFill/>
          <a:ln/>
        </p:spPr>
      </p:sp>
      <p:sp>
        <p:nvSpPr>
          <p:cNvPr id="10" name="Text 3"/>
          <p:cNvSpPr/>
          <p:nvPr/>
        </p:nvSpPr>
        <p:spPr>
          <a:xfrm>
            <a:off x="617278" y="1089702"/>
            <a:ext cx="3429086" cy="754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Академия транспортных технологий</a:t>
            </a:r>
            <a:endParaRPr lang="en-US" sz="1283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7235" y="1680252"/>
            <a:ext cx="3429085" cy="147450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768115" y="1831132"/>
            <a:ext cx="3120468" cy="1131598"/>
          </a:xfrm>
          <a:prstGeom prst="rect">
            <a:avLst/>
          </a:prstGeom>
          <a:noFill/>
          <a:ln/>
        </p:spPr>
      </p:sp>
      <p:sp>
        <p:nvSpPr>
          <p:cNvPr id="13" name="Text 5"/>
          <p:cNvSpPr/>
          <p:nvPr/>
        </p:nvSpPr>
        <p:spPr>
          <a:xfrm>
            <a:off x="768115" y="1831132"/>
            <a:ext cx="3120468" cy="113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2563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ТЕМА ПРОЕКТА</a:t>
            </a:r>
            <a:endParaRPr lang="en-US" sz="114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069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базы данных и разработка серверного REST API для автоматизации учебной платформы колледжа с ролями Администратор / Студент и QR-учётом посещаемости</a:t>
            </a:r>
            <a:endParaRPr lang="en-US" sz="1140" dirty="0"/>
          </a:p>
        </p:txBody>
      </p:sp>
      <p:sp>
        <p:nvSpPr>
          <p:cNvPr id="14" name="Shape 6"/>
          <p:cNvSpPr/>
          <p:nvPr/>
        </p:nvSpPr>
        <p:spPr>
          <a:xfrm>
            <a:off x="617235" y="3326213"/>
            <a:ext cx="3429086" cy="1028726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617235" y="3326213"/>
            <a:ext cx="3429086" cy="102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Группа: КИ-31</a:t>
            </a:r>
            <a:endParaRPr lang="en-US" sz="114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1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Студент: Кот Андрей Ильич</a:t>
            </a:r>
            <a:endParaRPr lang="en-US" sz="114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7199" y="4800720"/>
            <a:ext cx="8366970" cy="952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8469842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18" name="Text 9"/>
          <p:cNvSpPr/>
          <p:nvPr/>
        </p:nvSpPr>
        <p:spPr>
          <a:xfrm>
            <a:off x="8469842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13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57863" y="528638"/>
            <a:ext cx="2538413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199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199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 и цель проекта</a:t>
            </a:r>
            <a:endParaRPr lang="en-US" sz="1995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855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из введения и постановки задачи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05075" y="1143000"/>
            <a:ext cx="4252066" cy="147450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05075" y="1143000"/>
            <a:ext cx="4252066" cy="24003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607948" y="1177291"/>
            <a:ext cx="4046321" cy="164596"/>
          </a:xfrm>
          <a:prstGeom prst="rect">
            <a:avLst/>
          </a:prstGeom>
          <a:noFill/>
          <a:ln/>
        </p:spPr>
      </p:sp>
      <p:sp>
        <p:nvSpPr>
          <p:cNvPr id="8" name="Text 3"/>
          <p:cNvSpPr/>
          <p:nvPr/>
        </p:nvSpPr>
        <p:spPr>
          <a:xfrm>
            <a:off x="2607948" y="1177291"/>
            <a:ext cx="4046321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нужно</a:t>
            </a:r>
            <a:endParaRPr lang="en-US" sz="784" dirty="0"/>
          </a:p>
        </p:txBody>
      </p:sp>
      <p:sp>
        <p:nvSpPr>
          <p:cNvPr id="9" name="Shape 4"/>
          <p:cNvSpPr/>
          <p:nvPr/>
        </p:nvSpPr>
        <p:spPr>
          <a:xfrm>
            <a:off x="2628522" y="1472192"/>
            <a:ext cx="4005172" cy="1090449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2628522" y="1472192"/>
            <a:ext cx="4005172" cy="10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Ручной учет посещаемости медленный и дает ошибки.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QR-подход ускоряет фиксацию присутствия и снижает влияние человеческого фактора.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объединяет администрацию и студентов в одном цифровом сценарии.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05075" y="2705100"/>
            <a:ext cx="4252066" cy="147450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505075" y="2705100"/>
            <a:ext cx="4252066" cy="24003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2607948" y="2739391"/>
            <a:ext cx="4046321" cy="164596"/>
          </a:xfrm>
          <a:prstGeom prst="rect">
            <a:avLst/>
          </a:prstGeom>
          <a:noFill/>
          <a:ln/>
        </p:spPr>
      </p:sp>
      <p:sp>
        <p:nvSpPr>
          <p:cNvPr id="14" name="Text 7"/>
          <p:cNvSpPr/>
          <p:nvPr/>
        </p:nvSpPr>
        <p:spPr>
          <a:xfrm>
            <a:off x="2607948" y="2739391"/>
            <a:ext cx="4046321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работы</a:t>
            </a:r>
            <a:endParaRPr lang="en-US" sz="784" dirty="0"/>
          </a:p>
        </p:txBody>
      </p:sp>
      <p:sp>
        <p:nvSpPr>
          <p:cNvPr id="15" name="Shape 8"/>
          <p:cNvSpPr/>
          <p:nvPr/>
        </p:nvSpPr>
        <p:spPr>
          <a:xfrm>
            <a:off x="2628522" y="3034292"/>
            <a:ext cx="4005172" cy="1090449"/>
          </a:xfrm>
          <a:prstGeom prst="rect">
            <a:avLst/>
          </a:prstGeom>
          <a:noFill/>
          <a:ln/>
        </p:spPr>
      </p:sp>
      <p:sp>
        <p:nvSpPr>
          <p:cNvPr id="16" name="Text 9"/>
          <p:cNvSpPr/>
          <p:nvPr/>
        </p:nvSpPr>
        <p:spPr>
          <a:xfrm>
            <a:off x="2628522" y="3034292"/>
            <a:ext cx="4005172" cy="10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Спроектировать БД и разработать REST API для автоматизации платформы колледжа.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 ролевой доступ: Администратор / Студент.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Подготовить демонстрационный WPF-клиент для показа сценариев.</a:t>
            </a:r>
            <a:endParaRPr lang="en-US" sz="784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7199" y="4800720"/>
            <a:ext cx="8366970" cy="952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77199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9" name="Text 11"/>
          <p:cNvSpPr/>
          <p:nvPr/>
        </p:nvSpPr>
        <p:spPr>
          <a:xfrm>
            <a:off x="377199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20" name="Shape 12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21" name="Text 13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1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6750" y="4953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курсового проекта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7251" y="1063017"/>
            <a:ext cx="4114800" cy="15763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7200" y="1063017"/>
            <a:ext cx="4114902" cy="24003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80073" y="1097307"/>
            <a:ext cx="3909158" cy="164596"/>
          </a:xfrm>
          <a:prstGeom prst="rect">
            <a:avLst/>
          </a:prstGeom>
          <a:noFill/>
          <a:ln/>
        </p:spPr>
      </p:sp>
      <p:sp>
        <p:nvSpPr>
          <p:cNvPr id="8" name="Text 3"/>
          <p:cNvSpPr/>
          <p:nvPr/>
        </p:nvSpPr>
        <p:spPr>
          <a:xfrm>
            <a:off x="480073" y="1097307"/>
            <a:ext cx="3909158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работ</a:t>
            </a:r>
            <a:endParaRPr lang="en-US" sz="784" dirty="0"/>
          </a:p>
        </p:txBody>
      </p:sp>
      <p:sp>
        <p:nvSpPr>
          <p:cNvPr id="9" name="Shape 4"/>
          <p:cNvSpPr/>
          <p:nvPr/>
        </p:nvSpPr>
        <p:spPr>
          <a:xfrm>
            <a:off x="501076" y="1392209"/>
            <a:ext cx="3867150" cy="1109663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501076" y="1392209"/>
            <a:ext cx="3868009" cy="304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Проанализировать предметную область и роли пользователей.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UML-диаграммы вариантов использования и последовательности.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Спроектировать ER- и физическую модель базы данных.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Определить связи, ограничения, индексы и правила удаления.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Собрать серверную часть на FastAPI и клиентский прототип на WPF.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Оформить проект в GitHub и подготовить README.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95288" y="2771775"/>
            <a:ext cx="4080611" cy="171454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5288" y="2771775"/>
            <a:ext cx="4080611" cy="240036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98160" y="2806066"/>
            <a:ext cx="3874867" cy="164596"/>
          </a:xfrm>
          <a:prstGeom prst="rect">
            <a:avLst/>
          </a:prstGeom>
          <a:noFill/>
          <a:ln/>
        </p:spPr>
      </p:sp>
      <p:sp>
        <p:nvSpPr>
          <p:cNvPr id="14" name="Text 7"/>
          <p:cNvSpPr/>
          <p:nvPr/>
        </p:nvSpPr>
        <p:spPr>
          <a:xfrm>
            <a:off x="498160" y="2806066"/>
            <a:ext cx="3874867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показать на защите</a:t>
            </a:r>
            <a:endParaRPr lang="en-US" sz="784" dirty="0"/>
          </a:p>
        </p:txBody>
      </p:sp>
      <p:sp>
        <p:nvSpPr>
          <p:cNvPr id="15" name="Shape 8"/>
          <p:cNvSpPr/>
          <p:nvPr/>
        </p:nvSpPr>
        <p:spPr>
          <a:xfrm>
            <a:off x="518733" y="3100967"/>
            <a:ext cx="3833718" cy="1330485"/>
          </a:xfrm>
          <a:prstGeom prst="rect">
            <a:avLst/>
          </a:prstGeom>
          <a:noFill/>
          <a:ln/>
        </p:spPr>
      </p:sp>
      <p:sp>
        <p:nvSpPr>
          <p:cNvPr id="16" name="Text 9"/>
          <p:cNvSpPr/>
          <p:nvPr/>
        </p:nvSpPr>
        <p:spPr>
          <a:xfrm>
            <a:off x="518733" y="3100967"/>
            <a:ext cx="3833718" cy="133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проблему и цель.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Потом архитектуру и БД.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Затем интерфейс и QR-сценарий.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конце — репозиторий и результат.</a:t>
            </a:r>
            <a:endParaRPr lang="en-US" sz="784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7200" y="4800720"/>
            <a:ext cx="8366968" cy="952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9" name="Text 11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20" name="Shape 12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21" name="Text 13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13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6750" y="495300"/>
            <a:ext cx="633413" cy="64770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72100" y="1390650"/>
            <a:ext cx="2624138" cy="485775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62563" y="2171700"/>
            <a:ext cx="3081338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Предметная область и роли пользователей</a:t>
            </a:r>
            <a:endParaRPr lang="en-US" sz="1995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855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 и студент — две ключевые роли системы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58" y="1338263"/>
            <a:ext cx="3633788" cy="20574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6238" y="1338263"/>
            <a:ext cx="3634832" cy="24003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79110" y="1372553"/>
            <a:ext cx="3429086" cy="164596"/>
          </a:xfrm>
          <a:prstGeom prst="rect">
            <a:avLst/>
          </a:prstGeom>
          <a:noFill/>
          <a:ln/>
        </p:spPr>
      </p:sp>
      <p:sp>
        <p:nvSpPr>
          <p:cNvPr id="8" name="Text 3"/>
          <p:cNvSpPr/>
          <p:nvPr/>
        </p:nvSpPr>
        <p:spPr>
          <a:xfrm>
            <a:off x="479110" y="1372553"/>
            <a:ext cx="3429086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системы</a:t>
            </a:r>
            <a:endParaRPr lang="en-US" sz="784" dirty="0"/>
          </a:p>
        </p:txBody>
      </p:sp>
      <p:sp>
        <p:nvSpPr>
          <p:cNvPr id="9" name="Shape 4"/>
          <p:cNvSpPr/>
          <p:nvPr/>
        </p:nvSpPr>
        <p:spPr>
          <a:xfrm>
            <a:off x="499683" y="1667455"/>
            <a:ext cx="3387937" cy="2942156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499683" y="1667455"/>
            <a:ext cx="3387937" cy="2942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 — управление пользователями, расписанием, QR-сессиями и данными.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 — просмотр расписания, персональной информации и отметка посещения.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48231" y="1338263"/>
            <a:ext cx="4629266" cy="2057451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148231" y="1338263"/>
            <a:ext cx="4629266" cy="308618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264819" y="1413702"/>
            <a:ext cx="1234471" cy="137163"/>
          </a:xfrm>
          <a:prstGeom prst="rect">
            <a:avLst/>
          </a:prstGeom>
          <a:noFill/>
          <a:ln/>
        </p:spPr>
      </p:sp>
      <p:sp>
        <p:nvSpPr>
          <p:cNvPr id="14" name="Text 7"/>
          <p:cNvSpPr/>
          <p:nvPr/>
        </p:nvSpPr>
        <p:spPr>
          <a:xfrm>
            <a:off x="4264819" y="1413702"/>
            <a:ext cx="1234471" cy="13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</a:t>
            </a:r>
            <a:endParaRPr lang="en-US" sz="784" dirty="0"/>
          </a:p>
        </p:txBody>
      </p:sp>
      <p:sp>
        <p:nvSpPr>
          <p:cNvPr id="15" name="Shape 8"/>
          <p:cNvSpPr/>
          <p:nvPr/>
        </p:nvSpPr>
        <p:spPr>
          <a:xfrm>
            <a:off x="5485574" y="1413702"/>
            <a:ext cx="1920288" cy="137163"/>
          </a:xfrm>
          <a:prstGeom prst="rect">
            <a:avLst/>
          </a:prstGeom>
          <a:noFill/>
          <a:ln/>
        </p:spPr>
      </p:sp>
      <p:sp>
        <p:nvSpPr>
          <p:cNvPr id="16" name="Text 9"/>
          <p:cNvSpPr/>
          <p:nvPr/>
        </p:nvSpPr>
        <p:spPr>
          <a:xfrm>
            <a:off x="5485574" y="1413702"/>
            <a:ext cx="1920288" cy="13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делает</a:t>
            </a:r>
            <a:endParaRPr lang="en-US" sz="784" dirty="0"/>
          </a:p>
        </p:txBody>
      </p:sp>
      <p:sp>
        <p:nvSpPr>
          <p:cNvPr id="17" name="Shape 10"/>
          <p:cNvSpPr/>
          <p:nvPr/>
        </p:nvSpPr>
        <p:spPr>
          <a:xfrm>
            <a:off x="7508737" y="1413702"/>
            <a:ext cx="1097307" cy="137163"/>
          </a:xfrm>
          <a:prstGeom prst="rect">
            <a:avLst/>
          </a:prstGeom>
          <a:noFill/>
          <a:ln/>
        </p:spPr>
      </p:sp>
      <p:sp>
        <p:nvSpPr>
          <p:cNvPr id="18" name="Text 11"/>
          <p:cNvSpPr/>
          <p:nvPr/>
        </p:nvSpPr>
        <p:spPr>
          <a:xfrm>
            <a:off x="7508737" y="1413702"/>
            <a:ext cx="1097307" cy="13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Права</a:t>
            </a:r>
            <a:endParaRPr lang="en-US" sz="784" dirty="0"/>
          </a:p>
        </p:txBody>
      </p:sp>
      <p:sp>
        <p:nvSpPr>
          <p:cNvPr id="19" name="Shape 12"/>
          <p:cNvSpPr/>
          <p:nvPr/>
        </p:nvSpPr>
        <p:spPr>
          <a:xfrm>
            <a:off x="4266237" y="1804008"/>
            <a:ext cx="1234471" cy="342909"/>
          </a:xfrm>
          <a:prstGeom prst="rect">
            <a:avLst/>
          </a:prstGeom>
          <a:noFill/>
          <a:ln/>
        </p:spPr>
      </p:sp>
      <p:sp>
        <p:nvSpPr>
          <p:cNvPr id="20" name="Text 13"/>
          <p:cNvSpPr/>
          <p:nvPr/>
        </p:nvSpPr>
        <p:spPr>
          <a:xfrm>
            <a:off x="4266237" y="1804008"/>
            <a:ext cx="1234471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</a:t>
            </a:r>
            <a:endParaRPr lang="en-US" sz="784" dirty="0"/>
          </a:p>
        </p:txBody>
      </p:sp>
      <p:sp>
        <p:nvSpPr>
          <p:cNvPr id="21" name="Shape 14"/>
          <p:cNvSpPr/>
          <p:nvPr/>
        </p:nvSpPr>
        <p:spPr>
          <a:xfrm>
            <a:off x="5486993" y="1804008"/>
            <a:ext cx="1920288" cy="342909"/>
          </a:xfrm>
          <a:prstGeom prst="rect">
            <a:avLst/>
          </a:prstGeom>
          <a:noFill/>
          <a:ln/>
        </p:spPr>
      </p:sp>
      <p:sp>
        <p:nvSpPr>
          <p:cNvPr id="22" name="Text 15"/>
          <p:cNvSpPr/>
          <p:nvPr/>
        </p:nvSpPr>
        <p:spPr>
          <a:xfrm>
            <a:off x="5486993" y="1804008"/>
            <a:ext cx="1920288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Управляет данными и расписанием</a:t>
            </a:r>
            <a:endParaRPr lang="en-US" sz="784" dirty="0"/>
          </a:p>
        </p:txBody>
      </p:sp>
      <p:sp>
        <p:nvSpPr>
          <p:cNvPr id="23" name="Shape 16"/>
          <p:cNvSpPr/>
          <p:nvPr/>
        </p:nvSpPr>
        <p:spPr>
          <a:xfrm>
            <a:off x="7510156" y="1804008"/>
            <a:ext cx="1097307" cy="342909"/>
          </a:xfrm>
          <a:prstGeom prst="rect">
            <a:avLst/>
          </a:prstGeom>
          <a:noFill/>
          <a:ln/>
        </p:spPr>
      </p:sp>
      <p:sp>
        <p:nvSpPr>
          <p:cNvPr id="24" name="Text 17"/>
          <p:cNvSpPr/>
          <p:nvPr/>
        </p:nvSpPr>
        <p:spPr>
          <a:xfrm>
            <a:off x="7510156" y="1804008"/>
            <a:ext cx="1097307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доступ</a:t>
            </a:r>
            <a:endParaRPr lang="en-US" sz="784" dirty="0"/>
          </a:p>
        </p:txBody>
      </p:sp>
      <p:sp>
        <p:nvSpPr>
          <p:cNvPr id="25" name="Shape 18"/>
          <p:cNvSpPr/>
          <p:nvPr/>
        </p:nvSpPr>
        <p:spPr>
          <a:xfrm>
            <a:off x="4266237" y="2366379"/>
            <a:ext cx="1234471" cy="342909"/>
          </a:xfrm>
          <a:prstGeom prst="rect">
            <a:avLst/>
          </a:prstGeom>
          <a:noFill/>
          <a:ln/>
        </p:spPr>
      </p:sp>
      <p:sp>
        <p:nvSpPr>
          <p:cNvPr id="26" name="Text 19"/>
          <p:cNvSpPr/>
          <p:nvPr/>
        </p:nvSpPr>
        <p:spPr>
          <a:xfrm>
            <a:off x="4266237" y="2366379"/>
            <a:ext cx="1234471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</a:t>
            </a:r>
            <a:endParaRPr lang="en-US" sz="784" dirty="0"/>
          </a:p>
        </p:txBody>
      </p:sp>
      <p:sp>
        <p:nvSpPr>
          <p:cNvPr id="27" name="Shape 20"/>
          <p:cNvSpPr/>
          <p:nvPr/>
        </p:nvSpPr>
        <p:spPr>
          <a:xfrm>
            <a:off x="5486993" y="2366379"/>
            <a:ext cx="1920288" cy="342909"/>
          </a:xfrm>
          <a:prstGeom prst="rect">
            <a:avLst/>
          </a:prstGeom>
          <a:noFill/>
          <a:ln/>
        </p:spPr>
      </p:sp>
      <p:sp>
        <p:nvSpPr>
          <p:cNvPr id="28" name="Text 21"/>
          <p:cNvSpPr/>
          <p:nvPr/>
        </p:nvSpPr>
        <p:spPr>
          <a:xfrm>
            <a:off x="5486993" y="2366379"/>
            <a:ext cx="1920288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Смотрит расписание и отмечает посещение</a:t>
            </a:r>
            <a:endParaRPr lang="en-US" sz="784" dirty="0"/>
          </a:p>
        </p:txBody>
      </p:sp>
      <p:sp>
        <p:nvSpPr>
          <p:cNvPr id="29" name="Shape 22"/>
          <p:cNvSpPr/>
          <p:nvPr/>
        </p:nvSpPr>
        <p:spPr>
          <a:xfrm>
            <a:off x="7510156" y="2366379"/>
            <a:ext cx="1097307" cy="342909"/>
          </a:xfrm>
          <a:prstGeom prst="rect">
            <a:avLst/>
          </a:prstGeom>
          <a:noFill/>
          <a:ln/>
        </p:spPr>
      </p:sp>
      <p:sp>
        <p:nvSpPr>
          <p:cNvPr id="30" name="Text 23"/>
          <p:cNvSpPr/>
          <p:nvPr/>
        </p:nvSpPr>
        <p:spPr>
          <a:xfrm>
            <a:off x="7510156" y="2366379"/>
            <a:ext cx="1097307" cy="34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Ограниченный доступ</a:t>
            </a:r>
            <a:endParaRPr lang="en-US" sz="784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7200" y="4800720"/>
            <a:ext cx="8366968" cy="952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33" name="Text 25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34" name="Shape 26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35" name="Text 27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13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6750" y="4953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UML: Use Case</a:t>
            </a:r>
            <a:endParaRPr lang="en-US" sz="1995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855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Покажи здесь диаграмму вариантов использования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298" y="1199291"/>
            <a:ext cx="4800600" cy="36004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47855" y="1200150"/>
            <a:ext cx="3395663" cy="157162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48288" y="1200150"/>
            <a:ext cx="3394793" cy="240036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451156" y="1234441"/>
            <a:ext cx="3189050" cy="164596"/>
          </a:xfrm>
          <a:prstGeom prst="rect">
            <a:avLst/>
          </a:prstGeom>
          <a:noFill/>
          <a:ln/>
        </p:spPr>
      </p:sp>
      <p:sp>
        <p:nvSpPr>
          <p:cNvPr id="9" name="Text 3"/>
          <p:cNvSpPr/>
          <p:nvPr/>
        </p:nvSpPr>
        <p:spPr>
          <a:xfrm>
            <a:off x="5451156" y="1234441"/>
            <a:ext cx="3189050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на ней видно</a:t>
            </a:r>
            <a:endParaRPr lang="en-US" sz="784" dirty="0"/>
          </a:p>
        </p:txBody>
      </p:sp>
      <p:sp>
        <p:nvSpPr>
          <p:cNvPr id="10" name="Shape 4"/>
          <p:cNvSpPr/>
          <p:nvPr/>
        </p:nvSpPr>
        <p:spPr>
          <a:xfrm>
            <a:off x="5471731" y="1529342"/>
            <a:ext cx="3147901" cy="987577"/>
          </a:xfrm>
          <a:prstGeom prst="rect">
            <a:avLst/>
          </a:prstGeom>
          <a:noFill/>
          <a:ln/>
        </p:spPr>
      </p:sp>
      <p:sp>
        <p:nvSpPr>
          <p:cNvPr id="11" name="Text 5"/>
          <p:cNvSpPr/>
          <p:nvPr/>
        </p:nvSpPr>
        <p:spPr>
          <a:xfrm>
            <a:off x="5471731" y="1529342"/>
            <a:ext cx="3147901" cy="987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 наполняет и контролирует данные.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 работает с расписанием и отметкой посещения.</a:t>
            </a:r>
            <a:endParaRPr lang="en-US" sz="78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48943" y="2863280"/>
            <a:ext cx="3395663" cy="192881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49376" y="2863280"/>
            <a:ext cx="3394793" cy="24003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452244" y="2897571"/>
            <a:ext cx="3189050" cy="164596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5452244" y="2897571"/>
            <a:ext cx="3189050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Короткий комментарий</a:t>
            </a:r>
            <a:endParaRPr lang="en-US" sz="784" dirty="0"/>
          </a:p>
        </p:txBody>
      </p:sp>
      <p:sp>
        <p:nvSpPr>
          <p:cNvPr id="16" name="Shape 8"/>
          <p:cNvSpPr/>
          <p:nvPr/>
        </p:nvSpPr>
        <p:spPr>
          <a:xfrm>
            <a:off x="5472819" y="3192472"/>
            <a:ext cx="3147901" cy="1810557"/>
          </a:xfrm>
          <a:prstGeom prst="rect">
            <a:avLst/>
          </a:prstGeom>
          <a:noFill/>
          <a:ln/>
        </p:spPr>
      </p:sp>
      <p:sp>
        <p:nvSpPr>
          <p:cNvPr id="17" name="Text 9"/>
          <p:cNvSpPr/>
          <p:nvPr/>
        </p:nvSpPr>
        <p:spPr>
          <a:xfrm>
            <a:off x="5472819" y="3192472"/>
            <a:ext cx="3147901" cy="181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помогает быстро объяснить границы системы.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защите удобно сразу связать роли с функциональностью.</a:t>
            </a:r>
            <a:endParaRPr lang="en-US" sz="78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7200" y="4848345"/>
            <a:ext cx="8366968" cy="952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377200" y="4882636"/>
            <a:ext cx="4663557" cy="171454"/>
          </a:xfrm>
          <a:prstGeom prst="rect">
            <a:avLst/>
          </a:prstGeom>
          <a:noFill/>
          <a:ln/>
        </p:spPr>
      </p:sp>
      <p:sp>
        <p:nvSpPr>
          <p:cNvPr id="20" name="Text 11"/>
          <p:cNvSpPr/>
          <p:nvPr/>
        </p:nvSpPr>
        <p:spPr>
          <a:xfrm>
            <a:off x="377200" y="4882636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21" name="Shape 12"/>
          <p:cNvSpPr/>
          <p:nvPr/>
        </p:nvSpPr>
        <p:spPr>
          <a:xfrm>
            <a:off x="8469841" y="4909686"/>
            <a:ext cx="274327" cy="171454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8469841" y="490968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13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38337" y="1266825"/>
            <a:ext cx="1543050" cy="342900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UML: Sequence</a:t>
            </a:r>
            <a:endParaRPr lang="en-US" sz="1995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855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Пошаговый сценарий генерации и проверки QR-сессии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7200" y="1063017"/>
            <a:ext cx="4800721" cy="373770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49376" y="1110642"/>
            <a:ext cx="3394793" cy="154308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49376" y="1110642"/>
            <a:ext cx="3394793" cy="240036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452244" y="1144932"/>
            <a:ext cx="3189050" cy="164596"/>
          </a:xfrm>
          <a:prstGeom prst="rect">
            <a:avLst/>
          </a:prstGeom>
          <a:noFill/>
          <a:ln/>
        </p:spPr>
      </p:sp>
      <p:sp>
        <p:nvSpPr>
          <p:cNvPr id="9" name="Text 3"/>
          <p:cNvSpPr/>
          <p:nvPr/>
        </p:nvSpPr>
        <p:spPr>
          <a:xfrm>
            <a:off x="5452244" y="1144932"/>
            <a:ext cx="3189050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</a:t>
            </a:r>
            <a:endParaRPr lang="en-US" sz="784" dirty="0"/>
          </a:p>
        </p:txBody>
      </p:sp>
      <p:sp>
        <p:nvSpPr>
          <p:cNvPr id="10" name="Shape 4"/>
          <p:cNvSpPr/>
          <p:nvPr/>
        </p:nvSpPr>
        <p:spPr>
          <a:xfrm>
            <a:off x="5472819" y="1439834"/>
            <a:ext cx="3147901" cy="1159031"/>
          </a:xfrm>
          <a:prstGeom prst="rect">
            <a:avLst/>
          </a:prstGeom>
          <a:noFill/>
          <a:ln/>
        </p:spPr>
      </p:sp>
      <p:sp>
        <p:nvSpPr>
          <p:cNvPr id="11" name="Text 5"/>
          <p:cNvSpPr/>
          <p:nvPr/>
        </p:nvSpPr>
        <p:spPr>
          <a:xfrm>
            <a:off x="5472819" y="1439834"/>
            <a:ext cx="3147901" cy="1159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 отправляет QR-код на сервер.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проверяет сессию и расписание.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сохраняется в таблицу посещаемости.</a:t>
            </a:r>
            <a:endParaRPr lang="en-US" sz="78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49376" y="2825185"/>
            <a:ext cx="3394793" cy="1920288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49376" y="2825185"/>
            <a:ext cx="3394793" cy="24003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452244" y="2859475"/>
            <a:ext cx="3189050" cy="164596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5452244" y="2859475"/>
            <a:ext cx="3189050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подчеркнуть</a:t>
            </a:r>
            <a:endParaRPr lang="en-US" sz="784" dirty="0"/>
          </a:p>
        </p:txBody>
      </p:sp>
      <p:sp>
        <p:nvSpPr>
          <p:cNvPr id="16" name="Shape 8"/>
          <p:cNvSpPr/>
          <p:nvPr/>
        </p:nvSpPr>
        <p:spPr>
          <a:xfrm>
            <a:off x="5472819" y="3154377"/>
            <a:ext cx="3147901" cy="1536231"/>
          </a:xfrm>
          <a:prstGeom prst="rect">
            <a:avLst/>
          </a:prstGeom>
          <a:noFill/>
          <a:ln/>
        </p:spPr>
      </p:sp>
      <p:sp>
        <p:nvSpPr>
          <p:cNvPr id="17" name="Text 9"/>
          <p:cNvSpPr/>
          <p:nvPr/>
        </p:nvSpPr>
        <p:spPr>
          <a:xfrm>
            <a:off x="5472819" y="3154377"/>
            <a:ext cx="3147901" cy="1536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Обработка идет через REST API.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Проверяется актуальность и время обращения.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— автоматическая фиксация статуса студента.</a:t>
            </a:r>
            <a:endParaRPr lang="en-US" sz="78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7200" y="4848345"/>
            <a:ext cx="8366968" cy="952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377200" y="4882636"/>
            <a:ext cx="4663557" cy="171454"/>
          </a:xfrm>
          <a:prstGeom prst="rect">
            <a:avLst/>
          </a:prstGeom>
          <a:noFill/>
          <a:ln/>
        </p:spPr>
      </p:sp>
      <p:sp>
        <p:nvSpPr>
          <p:cNvPr id="20" name="Text 11"/>
          <p:cNvSpPr/>
          <p:nvPr/>
        </p:nvSpPr>
        <p:spPr>
          <a:xfrm>
            <a:off x="377200" y="4882636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21" name="Shape 12"/>
          <p:cNvSpPr/>
          <p:nvPr/>
        </p:nvSpPr>
        <p:spPr>
          <a:xfrm>
            <a:off x="8469841" y="4862061"/>
            <a:ext cx="274327" cy="171454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8469841" y="4862061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13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3888" y="1166813"/>
            <a:ext cx="4414838" cy="34528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интерфейса WPF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9137" y="1138238"/>
            <a:ext cx="3400425" cy="202406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42512" y="1138238"/>
            <a:ext cx="3395663" cy="202406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6238" y="3368122"/>
            <a:ext cx="8366968" cy="1234471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6238" y="3368122"/>
            <a:ext cx="8366968" cy="240036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479110" y="3402413"/>
            <a:ext cx="8161224" cy="164596"/>
          </a:xfrm>
          <a:prstGeom prst="rect">
            <a:avLst/>
          </a:prstGeom>
          <a:noFill/>
          <a:ln/>
        </p:spPr>
      </p:sp>
      <p:sp>
        <p:nvSpPr>
          <p:cNvPr id="10" name="Text 3"/>
          <p:cNvSpPr/>
          <p:nvPr/>
        </p:nvSpPr>
        <p:spPr>
          <a:xfrm>
            <a:off x="479110" y="3402413"/>
            <a:ext cx="8161224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можно сказать на защите</a:t>
            </a:r>
            <a:endParaRPr lang="en-US" sz="784" dirty="0"/>
          </a:p>
        </p:txBody>
      </p:sp>
      <p:sp>
        <p:nvSpPr>
          <p:cNvPr id="11" name="Shape 4"/>
          <p:cNvSpPr/>
          <p:nvPr/>
        </p:nvSpPr>
        <p:spPr>
          <a:xfrm>
            <a:off x="499686" y="3697315"/>
            <a:ext cx="8120075" cy="850413"/>
          </a:xfrm>
          <a:prstGeom prst="rect">
            <a:avLst/>
          </a:prstGeom>
          <a:noFill/>
          <a:ln/>
        </p:spPr>
      </p:sp>
      <p:sp>
        <p:nvSpPr>
          <p:cNvPr id="12" name="Text 5"/>
          <p:cNvSpPr/>
          <p:nvPr/>
        </p:nvSpPr>
        <p:spPr>
          <a:xfrm>
            <a:off x="499686" y="3697315"/>
            <a:ext cx="8120075" cy="85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отдельной форме авторизации проверяются учетные данные.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входа открывается один shell с переключаемыми страницами.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Навигация зависит от роли пользователя.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7200" y="4800720"/>
            <a:ext cx="8366968" cy="952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16" name="Shape 8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17" name="Text 9"/>
          <p:cNvSpPr/>
          <p:nvPr/>
        </p:nvSpPr>
        <p:spPr>
          <a:xfrm>
            <a:off x="8469841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13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200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Авторизация и QR-учёт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7726" y="1260276"/>
            <a:ext cx="3976687" cy="347186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738" y="1390650"/>
            <a:ext cx="3600540" cy="3223341"/>
          </a:xfrm>
          <a:prstGeom prst="rect">
            <a:avLst/>
          </a:prstGeom>
          <a:noFill/>
          <a:ln/>
        </p:spPr>
      </p:sp>
      <p:sp>
        <p:nvSpPr>
          <p:cNvPr id="7" name="Text 3"/>
          <p:cNvSpPr/>
          <p:nvPr/>
        </p:nvSpPr>
        <p:spPr>
          <a:xfrm>
            <a:off x="566738" y="1390650"/>
            <a:ext cx="3600540" cy="322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используется для последующих запросов к API.</a:t>
            </a:r>
            <a:endParaRPr lang="en-US" sz="114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QR-сессия привязана к конкретному занятию.</a:t>
            </a:r>
            <a:endParaRPr lang="en-US" sz="114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идёт по текущему времени и расписанию.</a:t>
            </a:r>
            <a:endParaRPr lang="en-US" sz="114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посещения фиксируется автоматически.</a:t>
            </a:r>
            <a:endParaRPr lang="en-US" sz="114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57713" y="1262063"/>
            <a:ext cx="4186238" cy="347186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7200" y="4800720"/>
            <a:ext cx="8366973" cy="952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1" name="Text 5"/>
          <p:cNvSpPr/>
          <p:nvPr/>
        </p:nvSpPr>
        <p:spPr>
          <a:xfrm>
            <a:off x="377200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12" name="Shape 6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13" name="Text 7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13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1995" dirty="0"/>
          </a:p>
          <a:p>
            <a:pPr algn="l" indent="0" marL="0">
              <a:lnSpc>
                <a:spcPts val="2414"/>
              </a:lnSpc>
              <a:buNone/>
            </a:pPr>
            <a:r>
              <a:rPr lang="en-US" sz="855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ER-диаграмма, таблицы, связи и ограничения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786" y="1184076"/>
            <a:ext cx="5110163" cy="354806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91175" y="1185863"/>
            <a:ext cx="3154756" cy="1440216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91175" y="1185863"/>
            <a:ext cx="3154756" cy="240036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694043" y="1220153"/>
            <a:ext cx="2949014" cy="164596"/>
          </a:xfrm>
          <a:prstGeom prst="rect">
            <a:avLst/>
          </a:prstGeom>
          <a:noFill/>
          <a:ln/>
        </p:spPr>
      </p:sp>
      <p:sp>
        <p:nvSpPr>
          <p:cNvPr id="9" name="Text 3"/>
          <p:cNvSpPr/>
          <p:nvPr/>
        </p:nvSpPr>
        <p:spPr>
          <a:xfrm>
            <a:off x="5694043" y="1220153"/>
            <a:ext cx="2949014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сущности</a:t>
            </a:r>
            <a:endParaRPr lang="en-US" sz="784" dirty="0"/>
          </a:p>
        </p:txBody>
      </p:sp>
      <p:sp>
        <p:nvSpPr>
          <p:cNvPr id="10" name="Shape 4"/>
          <p:cNvSpPr/>
          <p:nvPr/>
        </p:nvSpPr>
        <p:spPr>
          <a:xfrm>
            <a:off x="5714619" y="1515055"/>
            <a:ext cx="2907865" cy="1056158"/>
          </a:xfrm>
          <a:prstGeom prst="rect">
            <a:avLst/>
          </a:prstGeom>
          <a:noFill/>
          <a:ln/>
        </p:spPr>
      </p:sp>
      <p:sp>
        <p:nvSpPr>
          <p:cNvPr id="11" name="Text 5"/>
          <p:cNvSpPr/>
          <p:nvPr/>
        </p:nvSpPr>
        <p:spPr>
          <a:xfrm>
            <a:off x="5714619" y="1515055"/>
            <a:ext cx="2907865" cy="1056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/ Roles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/ Subjects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/ Attendance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sessions</a:t>
            </a:r>
            <a:endParaRPr lang="en-US" sz="78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92170" y="2797533"/>
            <a:ext cx="3152775" cy="191452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91175" y="2797533"/>
            <a:ext cx="3154756" cy="24003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694043" y="2831824"/>
            <a:ext cx="2949014" cy="164596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5694043" y="2831824"/>
            <a:ext cx="2949014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подчеркнуть</a:t>
            </a:r>
            <a:endParaRPr lang="en-US" sz="784" dirty="0"/>
          </a:p>
        </p:txBody>
      </p:sp>
      <p:sp>
        <p:nvSpPr>
          <p:cNvPr id="16" name="Shape 8"/>
          <p:cNvSpPr/>
          <p:nvPr/>
        </p:nvSpPr>
        <p:spPr>
          <a:xfrm>
            <a:off x="5715986" y="3126725"/>
            <a:ext cx="2905125" cy="1671638"/>
          </a:xfrm>
          <a:prstGeom prst="rect">
            <a:avLst/>
          </a:prstGeom>
          <a:noFill/>
          <a:ln/>
        </p:spPr>
      </p:sp>
      <p:sp>
        <p:nvSpPr>
          <p:cNvPr id="17" name="Text 9"/>
          <p:cNvSpPr/>
          <p:nvPr/>
        </p:nvSpPr>
        <p:spPr>
          <a:xfrm>
            <a:off x="5715986" y="3126725"/>
            <a:ext cx="2907865" cy="167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Нормализация до 3NF.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PK / FK / CHECK / UNIQUE.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Индексы для частых JOIN и WHERE.</a:t>
            </a:r>
            <a:endParaRPr lang="en-US" sz="78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7196" y="4800720"/>
            <a:ext cx="8366968" cy="952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20" name="Text 11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21" name="Shape 12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13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GitHub-репозиторий проекта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5819" y="1136451"/>
            <a:ext cx="4529138" cy="359568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14938" y="2028825"/>
            <a:ext cx="3705225" cy="27051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14938" y="1138238"/>
            <a:ext cx="3705225" cy="785813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215840" y="1138238"/>
            <a:ext cx="3703411" cy="240036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5318708" y="1172528"/>
            <a:ext cx="3497668" cy="164596"/>
          </a:xfrm>
          <a:prstGeom prst="rect">
            <a:avLst/>
          </a:prstGeom>
          <a:noFill/>
          <a:ln/>
        </p:spPr>
      </p:sp>
      <p:sp>
        <p:nvSpPr>
          <p:cNvPr id="10" name="Text 3"/>
          <p:cNvSpPr/>
          <p:nvPr/>
        </p:nvSpPr>
        <p:spPr>
          <a:xfrm>
            <a:off x="5318708" y="1172528"/>
            <a:ext cx="3497668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показать</a:t>
            </a:r>
            <a:endParaRPr lang="en-US" sz="784" dirty="0"/>
          </a:p>
        </p:txBody>
      </p:sp>
      <p:sp>
        <p:nvSpPr>
          <p:cNvPr id="11" name="Shape 4"/>
          <p:cNvSpPr/>
          <p:nvPr/>
        </p:nvSpPr>
        <p:spPr>
          <a:xfrm>
            <a:off x="5338753" y="1467430"/>
            <a:ext cx="3457575" cy="361950"/>
          </a:xfrm>
          <a:prstGeom prst="rect">
            <a:avLst/>
          </a:prstGeom>
          <a:noFill/>
          <a:ln/>
        </p:spPr>
      </p:sp>
      <p:sp>
        <p:nvSpPr>
          <p:cNvPr id="12" name="Text 5"/>
          <p:cNvSpPr/>
          <p:nvPr/>
        </p:nvSpPr>
        <p:spPr>
          <a:xfrm>
            <a:off x="5338753" y="1467430"/>
            <a:ext cx="3456518" cy="1056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 проекта: database, api, client.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README с запуском и описанием.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docker-compose для быстрого старта.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7196" y="4800720"/>
            <a:ext cx="8366968" cy="952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5" name="Text 7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16" name="Shape 8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17" name="Text 9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13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 технологий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238" y="4110038"/>
            <a:ext cx="1440219" cy="34290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6238" y="4190811"/>
            <a:ext cx="1440216" cy="171454"/>
          </a:xfrm>
          <a:prstGeom prst="rect">
            <a:avLst/>
          </a:prstGeom>
          <a:noFill/>
          <a:ln/>
        </p:spPr>
      </p:sp>
      <p:sp>
        <p:nvSpPr>
          <p:cNvPr id="7" name="Text 3"/>
          <p:cNvSpPr/>
          <p:nvPr/>
        </p:nvSpPr>
        <p:spPr>
          <a:xfrm>
            <a:off x="652463" y="4219575"/>
            <a:ext cx="881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/ FastAPI</a:t>
            </a:r>
            <a:endParaRPr lang="en-US" sz="78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39900" y="4110038"/>
            <a:ext cx="1200178" cy="342909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305050" y="4219575"/>
            <a:ext cx="1200180" cy="171454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2305050" y="4219575"/>
            <a:ext cx="1200180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WPF / C#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63531" y="4110038"/>
            <a:ext cx="1440219" cy="34290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552825" y="4219575"/>
            <a:ext cx="1440216" cy="171454"/>
          </a:xfrm>
          <a:prstGeom prst="rect">
            <a:avLst/>
          </a:prstGeom>
          <a:noFill/>
          <a:ln/>
        </p:spPr>
      </p:sp>
      <p:sp>
        <p:nvSpPr>
          <p:cNvPr id="13" name="Text 7"/>
          <p:cNvSpPr/>
          <p:nvPr/>
        </p:nvSpPr>
        <p:spPr>
          <a:xfrm>
            <a:off x="3552825" y="4219575"/>
            <a:ext cx="1440216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SQL Server</a:t>
            </a:r>
            <a:endParaRPr lang="en-US" sz="784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27194" y="4110038"/>
            <a:ext cx="1200178" cy="342909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295900" y="4205288"/>
            <a:ext cx="1200180" cy="171454"/>
          </a:xfrm>
          <a:prstGeom prst="rect">
            <a:avLst/>
          </a:prstGeom>
          <a:noFill/>
          <a:ln/>
        </p:spPr>
      </p:sp>
      <p:sp>
        <p:nvSpPr>
          <p:cNvPr id="16" name="Text 9"/>
          <p:cNvSpPr/>
          <p:nvPr/>
        </p:nvSpPr>
        <p:spPr>
          <a:xfrm>
            <a:off x="5295900" y="4205288"/>
            <a:ext cx="1200180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  <a:endParaRPr lang="en-US" sz="784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50815" y="4110038"/>
            <a:ext cx="1200178" cy="342909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572250" y="4210050"/>
            <a:ext cx="1200180" cy="171454"/>
          </a:xfrm>
          <a:prstGeom prst="rect">
            <a:avLst/>
          </a:prstGeom>
          <a:noFill/>
          <a:ln/>
        </p:spPr>
      </p:sp>
      <p:sp>
        <p:nvSpPr>
          <p:cNvPr id="19" name="Text 11"/>
          <p:cNvSpPr/>
          <p:nvPr/>
        </p:nvSpPr>
        <p:spPr>
          <a:xfrm>
            <a:off x="6572250" y="4210050"/>
            <a:ext cx="1200180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784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74446" y="4110038"/>
            <a:ext cx="1200178" cy="342909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474446" y="4171761"/>
            <a:ext cx="1200180" cy="171454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7877175" y="4210050"/>
            <a:ext cx="1200180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784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6238" y="1219200"/>
            <a:ext cx="8367712" cy="270510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76238" y="1219200"/>
            <a:ext cx="8367712" cy="238125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479115" y="1251631"/>
            <a:ext cx="4080612" cy="164596"/>
          </a:xfrm>
          <a:prstGeom prst="rect">
            <a:avLst/>
          </a:prstGeom>
          <a:noFill/>
          <a:ln/>
        </p:spPr>
      </p:sp>
      <p:sp>
        <p:nvSpPr>
          <p:cNvPr id="26" name="Text 15"/>
          <p:cNvSpPr/>
          <p:nvPr/>
        </p:nvSpPr>
        <p:spPr>
          <a:xfrm>
            <a:off x="479115" y="1251631"/>
            <a:ext cx="4080612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</a:t>
            </a:r>
            <a:endParaRPr lang="en-US" sz="784" dirty="0"/>
          </a:p>
        </p:txBody>
      </p:sp>
      <p:sp>
        <p:nvSpPr>
          <p:cNvPr id="27" name="Shape 16"/>
          <p:cNvSpPr/>
          <p:nvPr/>
        </p:nvSpPr>
        <p:spPr>
          <a:xfrm>
            <a:off x="499690" y="1546533"/>
            <a:ext cx="4039463" cy="2324920"/>
          </a:xfrm>
          <a:prstGeom prst="rect">
            <a:avLst/>
          </a:prstGeom>
          <a:noFill/>
          <a:ln/>
        </p:spPr>
      </p:sp>
      <p:sp>
        <p:nvSpPr>
          <p:cNvPr id="28" name="Text 17"/>
          <p:cNvSpPr/>
          <p:nvPr/>
        </p:nvSpPr>
        <p:spPr>
          <a:xfrm>
            <a:off x="499690" y="1546533"/>
            <a:ext cx="4039463" cy="232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Клиентское WPF-приложение обращается к REST API.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работает с БД и возвращает JSON.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Контейнеризация помогает быстро разворачивать проект.</a:t>
            </a:r>
            <a:endParaRPr lang="en-US" sz="784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7196" y="4800720"/>
            <a:ext cx="8366968" cy="9525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31" name="Text 19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32" name="Shape 20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33" name="Text 21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13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377196" y="425207"/>
            <a:ext cx="6309518" cy="480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4"/>
              </a:lnSpc>
              <a:buNone/>
            </a:pPr>
            <a:r>
              <a:rPr lang="en-US" sz="1995" b="1" dirty="0">
                <a:solidFill>
                  <a:srgbClr val="0F17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</a:t>
            </a:r>
            <a:endParaRPr lang="en-US" sz="199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34496" y="1062038"/>
            <a:ext cx="5919788" cy="33623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34496" y="1062038"/>
            <a:ext cx="5919788" cy="24288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743075" y="1119188"/>
            <a:ext cx="4594975" cy="164596"/>
          </a:xfrm>
          <a:prstGeom prst="rect">
            <a:avLst/>
          </a:prstGeom>
          <a:noFill/>
          <a:ln/>
        </p:spPr>
      </p:sp>
      <p:sp>
        <p:nvSpPr>
          <p:cNvPr id="8" name="Text 3"/>
          <p:cNvSpPr/>
          <p:nvPr/>
        </p:nvSpPr>
        <p:spPr>
          <a:xfrm>
            <a:off x="1743075" y="1119188"/>
            <a:ext cx="4594975" cy="16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</a:t>
            </a:r>
            <a:endParaRPr lang="en-US" sz="784" dirty="0"/>
          </a:p>
        </p:txBody>
      </p:sp>
      <p:sp>
        <p:nvSpPr>
          <p:cNvPr id="9" name="Shape 4"/>
          <p:cNvSpPr/>
          <p:nvPr/>
        </p:nvSpPr>
        <p:spPr>
          <a:xfrm>
            <a:off x="2295525" y="1447800"/>
            <a:ext cx="4553826" cy="2976447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2295525" y="1447800"/>
            <a:ext cx="4553826" cy="297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демонстрирует полный цикл: анализ -&gt; БД -&gt; API -&gt; клиент -&gt; репозиторий.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 посещаемости уменьшает ручную работу и ошибки.</a:t>
            </a:r>
            <a:endParaRPr lang="en-US" sz="784" dirty="0"/>
          </a:p>
          <a:p>
            <a:pPr algn="l" indent="0" marL="0">
              <a:lnSpc>
                <a:spcPts val="949"/>
              </a:lnSpc>
              <a:buNone/>
            </a:pPr>
            <a:r>
              <a:rPr lang="en-US" sz="784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Ролевой доступ и QR-механизм делают систему понятной для колледжа.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62163" y="2300288"/>
            <a:ext cx="1471613" cy="147161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14775" y="2300288"/>
            <a:ext cx="1471613" cy="147161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67388" y="2305050"/>
            <a:ext cx="1466850" cy="1466850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7196" y="4800720"/>
            <a:ext cx="8366968" cy="9525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</p:sp>
      <p:sp>
        <p:nvSpPr>
          <p:cNvPr id="16" name="Text 7"/>
          <p:cNvSpPr/>
          <p:nvPr/>
        </p:nvSpPr>
        <p:spPr>
          <a:xfrm>
            <a:off x="377196" y="4835011"/>
            <a:ext cx="466355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641" dirty="0">
                <a:solidFill>
                  <a:srgbClr val="64748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CollegeHub • демонстрационная защита курсового проекта</a:t>
            </a:r>
            <a:endParaRPr lang="en-US" sz="641" dirty="0"/>
          </a:p>
        </p:txBody>
      </p:sp>
      <p:sp>
        <p:nvSpPr>
          <p:cNvPr id="17" name="Shape 8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</p:sp>
      <p:sp>
        <p:nvSpPr>
          <p:cNvPr id="18" name="Text 9"/>
          <p:cNvSpPr/>
          <p:nvPr/>
        </p:nvSpPr>
        <p:spPr>
          <a:xfrm>
            <a:off x="8469846" y="4814436"/>
            <a:ext cx="274327" cy="17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13" b="1" dirty="0">
                <a:solidFill>
                  <a:srgbClr val="47556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13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86750" y="419100"/>
            <a:ext cx="633413" cy="64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2026-06-22T11:12:21Z</dcterms:created>
  <dcterms:modified xsi:type="dcterms:W3CDTF">2026-06-22T11:12:21Z</dcterms:modified>
</cp:coreProperties>
</file>